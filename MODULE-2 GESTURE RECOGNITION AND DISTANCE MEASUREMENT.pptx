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62" r:id="rId6"/>
    <p:sldId id="263" r:id="rId7"/>
    <p:sldId id="268" r:id="rId8"/>
    <p:sldId id="265" r:id="rId9"/>
    <p:sldId id="266" r:id="rId10"/>
  </p:sldIdLst>
  <p:sldSz cx="18288000" cy="10287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Montserrat" panose="00000500000000000000" pitchFamily="2" charset="0"/>
      <p:regular r:id="rId12"/>
    </p:embeddedFont>
    <p:embeddedFont>
      <p:font typeface="Montserrat Bold" panose="00000800000000000000" charset="0"/>
      <p:regular r:id="rId13"/>
    </p:embeddedFont>
    <p:embeddedFont>
      <p:font typeface="Open Sau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73352"/>
            <a:ext cx="18288000" cy="3813648"/>
          </a:xfrm>
          <a:custGeom>
            <a:avLst/>
            <a:gdLst/>
            <a:ahLst/>
            <a:cxnLst/>
            <a:rect l="l" t="t" r="r" b="b"/>
            <a:pathLst>
              <a:path w="20127836" h="11161800">
                <a:moveTo>
                  <a:pt x="0" y="0"/>
                </a:moveTo>
                <a:lnTo>
                  <a:pt x="20127836" y="0"/>
                </a:lnTo>
                <a:lnTo>
                  <a:pt x="20127836" y="11161800"/>
                </a:lnTo>
                <a:lnTo>
                  <a:pt x="0" y="1116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988220" y="2841671"/>
            <a:ext cx="12311559" cy="224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sz="6424" b="1" dirty="0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Gesture Recognition and Distance Measurement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4811" y="4565015"/>
            <a:ext cx="743837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Mentor : Dr. D.Bhanu Prakash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24811" y="6475009"/>
            <a:ext cx="743837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Presented by: MAJJI HARI KRISHNA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F115A-DA05-267B-3E7B-6312019CEEDD}"/>
              </a:ext>
            </a:extLst>
          </p:cNvPr>
          <p:cNvSpPr txBox="1"/>
          <p:nvPr/>
        </p:nvSpPr>
        <p:spPr>
          <a:xfrm>
            <a:off x="7696200" y="225698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MILESTONE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26039" y="3804938"/>
            <a:ext cx="14459467" cy="421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Hands detection and extract landmark coordinates in real time.</a:t>
            </a:r>
          </a:p>
          <a:p>
            <a:r>
              <a:rPr lang="en-US" sz="3200" dirty="0"/>
              <a:t>Gestures will be classification based on this distance to represent control actions.</a:t>
            </a:r>
          </a:p>
          <a:p>
            <a:r>
              <a:rPr lang="en-US" sz="3200" dirty="0"/>
              <a:t>The distance between finger tips will be calculated.</a:t>
            </a:r>
          </a:p>
          <a:p>
            <a:endParaRPr lang="en-US" sz="3200" dirty="0"/>
          </a:p>
          <a:p>
            <a:r>
              <a:rPr lang="en-US" sz="3200" dirty="0"/>
              <a:t>Output : </a:t>
            </a:r>
          </a:p>
          <a:p>
            <a:r>
              <a:rPr lang="en-US" sz="3200" dirty="0"/>
              <a:t>	Hand landmarks overlayed on the video stream</a:t>
            </a:r>
          </a:p>
          <a:p>
            <a:r>
              <a:rPr lang="en-US" sz="3200" dirty="0"/>
              <a:t>    	Live camera feed with gesture annotations</a:t>
            </a:r>
          </a:p>
          <a:p>
            <a:pPr algn="just">
              <a:lnSpc>
                <a:spcPts val="3359"/>
              </a:lnSpc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3C0DB-3063-C306-BBAA-BDAD11DCC009}"/>
              </a:ext>
            </a:extLst>
          </p:cNvPr>
          <p:cNvSpPr txBox="1"/>
          <p:nvPr/>
        </p:nvSpPr>
        <p:spPr>
          <a:xfrm>
            <a:off x="3429000" y="1546908"/>
            <a:ext cx="1082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864985" y="5143500"/>
            <a:ext cx="10952200" cy="4623060"/>
          </a:xfrm>
          <a:custGeom>
            <a:avLst/>
            <a:gdLst/>
            <a:ahLst/>
            <a:cxnLst/>
            <a:rect l="l" t="t" r="r" b="b"/>
            <a:pathLst>
              <a:path w="10952200" h="4623060">
                <a:moveTo>
                  <a:pt x="0" y="0"/>
                </a:moveTo>
                <a:lnTo>
                  <a:pt x="10952200" y="0"/>
                </a:lnTo>
                <a:lnTo>
                  <a:pt x="10952200" y="4623060"/>
                </a:lnTo>
                <a:lnTo>
                  <a:pt x="0" y="4623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2" t="-2152" b="-95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187340" y="2416228"/>
            <a:ext cx="4504240" cy="5167655"/>
          </a:xfrm>
          <a:custGeom>
            <a:avLst/>
            <a:gdLst/>
            <a:ahLst/>
            <a:cxnLst/>
            <a:rect l="l" t="t" r="r" b="b"/>
            <a:pathLst>
              <a:path w="4504240" h="5167655">
                <a:moveTo>
                  <a:pt x="0" y="0"/>
                </a:moveTo>
                <a:lnTo>
                  <a:pt x="4504240" y="0"/>
                </a:lnTo>
                <a:lnTo>
                  <a:pt x="4504240" y="5167655"/>
                </a:lnTo>
                <a:lnTo>
                  <a:pt x="0" y="5167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6" r="-3383" b="-8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1784" y="295376"/>
            <a:ext cx="109522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Environment setup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5652" y="1754841"/>
            <a:ext cx="13350803" cy="449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 Anaconda Prompt (as normal user) and run these commands line-by-line.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Create a fresh conda environment with Python 3.10: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&gt;&gt;&gt; 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conda create -n</a:t>
            </a: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15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&lt;Environment Name &gt;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 python=3.10 -y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&gt;&gt;&gt; 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conda activate</a:t>
            </a: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15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&lt;Environment Name &gt;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2315" dirty="0">
              <a:solidFill>
                <a:srgbClr val="FF57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(Recommended) make sure </a:t>
            </a:r>
            <a:r>
              <a:rPr lang="en-US" sz="231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conda</a:t>
            </a: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-forge channel is available for packages: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&gt;&gt;&gt; 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conda config --add channels conda-forge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r>
              <a:rPr lang="en-US" sz="231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&gt;&gt;&gt;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 conda config --set </a:t>
            </a:r>
            <a:r>
              <a:rPr lang="en-US" sz="2315" dirty="0" err="1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channel_priority</a:t>
            </a:r>
            <a:r>
              <a:rPr lang="en-US" sz="2315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 flexible</a:t>
            </a: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2315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2315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2315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Freeform 8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88DA-1AA0-5723-BC0B-0D76800C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E741C3-E43B-828D-B288-6BEE2AD742F5}"/>
              </a:ext>
            </a:extLst>
          </p:cNvPr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928126B-8816-DA41-8FC8-C42BA8F61B09}"/>
              </a:ext>
            </a:extLst>
          </p:cNvPr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8F26B0-47FF-DC9F-E98D-F50CA1C17F2C}"/>
              </a:ext>
            </a:extLst>
          </p:cNvPr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AA77F90-BE83-3AE6-B462-7FD80B2F4A4D}"/>
              </a:ext>
            </a:extLst>
          </p:cNvPr>
          <p:cNvSpPr txBox="1"/>
          <p:nvPr/>
        </p:nvSpPr>
        <p:spPr>
          <a:xfrm>
            <a:off x="1752600" y="1491274"/>
            <a:ext cx="14459467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TensorFlow, developed by Google, is an open-source platform that provides a comprehensive ecosystem for machine learning.</a:t>
            </a:r>
          </a:p>
          <a:p>
            <a:pPr algn="just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&gt;&gt;&gt; </a:t>
            </a:r>
            <a:r>
              <a:rPr lang="en-US" sz="2400" dirty="0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pip install </a:t>
            </a:r>
            <a:r>
              <a:rPr lang="en-US" sz="2400" dirty="0" err="1">
                <a:solidFill>
                  <a:srgbClr val="2E71EC"/>
                </a:solidFill>
                <a:latin typeface="Montserrat"/>
                <a:ea typeface="Montserrat"/>
                <a:cs typeface="Montserrat"/>
                <a:sym typeface="Montserrat"/>
              </a:rPr>
              <a:t>tensorflow</a:t>
            </a: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359"/>
              </a:lnSpc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06883-9CF2-A7F8-B657-A835775AA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047" y="3132690"/>
            <a:ext cx="7558348" cy="5211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69A8DB-39AB-1252-89BA-6CB2B9BB2C94}"/>
              </a:ext>
            </a:extLst>
          </p:cNvPr>
          <p:cNvSpPr txBox="1"/>
          <p:nvPr/>
        </p:nvSpPr>
        <p:spPr>
          <a:xfrm>
            <a:off x="9753600" y="4215113"/>
            <a:ext cx="7315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2" charset="0"/>
              </a:rPr>
              <a:t>Keras</a:t>
            </a:r>
            <a:r>
              <a:rPr lang="en-US" sz="2400" dirty="0">
                <a:latin typeface="Montserrat" panose="00000500000000000000" pitchFamily="2" charset="0"/>
              </a:rPr>
              <a:t>, now fully integrated into TensorFlow, offers a user-friendly, high-level, API for building and training neural networks</a:t>
            </a:r>
            <a:r>
              <a:rPr lang="en-US" dirty="0"/>
              <a:t>.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Training a neural network involves several steps, including </a:t>
            </a:r>
            <a:r>
              <a:rPr lang="en-US" sz="2400" dirty="0" err="1">
                <a:latin typeface="Montserrat" panose="00000500000000000000" pitchFamily="2" charset="0"/>
              </a:rPr>
              <a:t>data,preprocessing</a:t>
            </a:r>
            <a:r>
              <a:rPr lang="en-US" sz="2400" dirty="0">
                <a:latin typeface="Montserrat" panose="00000500000000000000" pitchFamily="2" charset="0"/>
              </a:rPr>
              <a:t>, model building, compiling, training, and evaluating the model.</a:t>
            </a:r>
            <a:endParaRPr lang="en-IN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29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38800" y="952500"/>
            <a:ext cx="815322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 dirty="0">
                <a:solidFill>
                  <a:srgbClr val="000000"/>
                </a:solidFill>
                <a:latin typeface="Montserrat"/>
                <a:ea typeface="Montserrat Bold"/>
                <a:cs typeface="Montserrat Bold"/>
                <a:sym typeface="Montserrat"/>
              </a:rPr>
              <a:t>HAND DETECTION AND LABELING</a:t>
            </a:r>
            <a:endParaRPr lang="en-US" sz="3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3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7D787-5E4C-9815-F9C8-F8A119506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3" y="4936182"/>
            <a:ext cx="5158447" cy="41486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CD96A8-7F4A-4EF0-96C7-9C6C4CE05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8851" y="5003145"/>
            <a:ext cx="5198647" cy="40949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F58A7C-99A3-F1FE-C7D9-8321DD4CB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147" y="4984923"/>
            <a:ext cx="5158446" cy="40949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C90307-9108-E3CC-219E-918BE40D546A}"/>
              </a:ext>
            </a:extLst>
          </p:cNvPr>
          <p:cNvSpPr txBox="1"/>
          <p:nvPr/>
        </p:nvSpPr>
        <p:spPr>
          <a:xfrm>
            <a:off x="1336851" y="2418407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Implementation with CNN :</a:t>
            </a:r>
            <a:br>
              <a:rPr lang="en-IN" sz="2400" b="1" dirty="0"/>
            </a:br>
            <a:r>
              <a:rPr lang="en-IN" sz="2400" dirty="0" err="1"/>
              <a:t>Tensorflow</a:t>
            </a:r>
            <a:r>
              <a:rPr lang="en-IN" sz="2400" dirty="0"/>
              <a:t> / </a:t>
            </a:r>
            <a:r>
              <a:rPr lang="en-IN" sz="2400" dirty="0" err="1"/>
              <a:t>Keras</a:t>
            </a:r>
            <a:r>
              <a:rPr lang="en-IN" sz="2400" dirty="0"/>
              <a:t> </a:t>
            </a:r>
            <a:r>
              <a:rPr lang="en-IN" sz="2400" dirty="0" err="1"/>
              <a:t>Mediapipe</a:t>
            </a:r>
            <a:r>
              <a:rPr lang="en-IN" sz="2400" dirty="0"/>
              <a:t> Hands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A1A264-2F39-3F81-C698-41F2360AE9F2}"/>
              </a:ext>
            </a:extLst>
          </p:cNvPr>
          <p:cNvSpPr txBox="1"/>
          <p:nvPr/>
        </p:nvSpPr>
        <p:spPr>
          <a:xfrm>
            <a:off x="7578551" y="2178172"/>
            <a:ext cx="8991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INPUT :  Hand Image (RGB)</a:t>
            </a:r>
            <a:br>
              <a:rPr lang="en-IN" sz="2400" dirty="0"/>
            </a:br>
            <a:r>
              <a:rPr lang="en-IN" sz="2400" dirty="0"/>
              <a:t>Convolutional Layers</a:t>
            </a:r>
            <a:br>
              <a:rPr lang="en-IN" sz="2400" dirty="0"/>
            </a:br>
            <a:r>
              <a:rPr lang="en-IN" sz="2400" dirty="0"/>
              <a:t>Flatten layer</a:t>
            </a:r>
            <a:br>
              <a:rPr lang="en-IN" sz="2400" dirty="0"/>
            </a:br>
            <a:r>
              <a:rPr lang="en-IN" sz="2400" dirty="0"/>
              <a:t>Fully Connected Layers</a:t>
            </a:r>
            <a:br>
              <a:rPr lang="en-IN" sz="2400" dirty="0"/>
            </a:br>
            <a:r>
              <a:rPr lang="en-IN" sz="2400" dirty="0"/>
              <a:t>OUTPUT: Left hand / Right hand (label with probability/ confidence)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BFE35-7347-F060-2118-58BA023A3E2C}"/>
              </a:ext>
            </a:extLst>
          </p:cNvPr>
          <p:cNvSpPr txBox="1"/>
          <p:nvPr/>
        </p:nvSpPr>
        <p:spPr>
          <a:xfrm>
            <a:off x="1336851" y="3583397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PALM DETECTION – Single Shot Detection model </a:t>
            </a:r>
            <a:br>
              <a:rPr lang="en-IN" sz="1800" dirty="0"/>
            </a:br>
            <a:r>
              <a:rPr lang="en-IN" sz="1800" dirty="0"/>
              <a:t>- Detects objects with bounding box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4012730" y="6713542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3"/>
                </a:lnTo>
                <a:lnTo>
                  <a:pt x="0" y="36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D07ECA-6199-4A18-3F01-E179EDFD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416" y="2019300"/>
            <a:ext cx="5182984" cy="7272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AA491A-2F5D-25A8-23B1-091C1C4D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4720732"/>
            <a:ext cx="6324600" cy="48632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D6B30D-2ADE-8E8A-C16A-655D65C3639B}"/>
              </a:ext>
            </a:extLst>
          </p:cNvPr>
          <p:cNvSpPr txBox="1"/>
          <p:nvPr/>
        </p:nvSpPr>
        <p:spPr>
          <a:xfrm>
            <a:off x="3429000" y="703063"/>
            <a:ext cx="1143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GENERATING HAND LANDMARK TABLE AND ANNOTATED 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64B8D-E736-F39B-9632-39ABDD33D71E}"/>
              </a:ext>
            </a:extLst>
          </p:cNvPr>
          <p:cNvSpPr txBox="1"/>
          <p:nvPr/>
        </p:nvSpPr>
        <p:spPr>
          <a:xfrm>
            <a:off x="8534400" y="1823978"/>
            <a:ext cx="883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MEDIAPIPE HANDS:</a:t>
            </a:r>
            <a:br>
              <a:rPr lang="en-IN" sz="2000" b="1" dirty="0"/>
            </a:br>
            <a:r>
              <a:rPr lang="en-IN" sz="2000" dirty="0"/>
              <a:t>Pre-trained ML model for hand &amp; finger tracking 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OPENCV2:</a:t>
            </a:r>
            <a:br>
              <a:rPr lang="en-IN" sz="2000" b="1" dirty="0"/>
            </a:br>
            <a:r>
              <a:rPr lang="en-IN" sz="2000" dirty="0"/>
              <a:t>Webcam access and image processing Interactive web application UI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Mobile vnet model</a:t>
            </a:r>
            <a:br>
              <a:rPr lang="en-IN" sz="2000" dirty="0"/>
            </a:br>
            <a:endParaRPr lang="en-IN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BD88A-65BC-CA04-70B4-5868065F2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" t="1229"/>
          <a:stretch>
            <a:fillRect/>
          </a:stretch>
        </p:blipFill>
        <p:spPr>
          <a:xfrm>
            <a:off x="2390360" y="1638300"/>
            <a:ext cx="5105400" cy="4077978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D0475FDD-809C-A02F-8063-2379864233C4}"/>
              </a:ext>
            </a:extLst>
          </p:cNvPr>
          <p:cNvSpPr/>
          <p:nvPr/>
        </p:nvSpPr>
        <p:spPr>
          <a:xfrm rot="10800000">
            <a:off x="14012730" y="6713542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3"/>
                </a:lnTo>
                <a:lnTo>
                  <a:pt x="0" y="360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BC8D9C89-9C9D-BCA9-8430-F15C1C212F8D}"/>
              </a:ext>
            </a:extLst>
          </p:cNvPr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5284F-F583-B119-9C9C-C809723CD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4822601"/>
            <a:ext cx="5623170" cy="4445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2C76D-B522-2EB4-7355-33C460E650F4}"/>
              </a:ext>
            </a:extLst>
          </p:cNvPr>
          <p:cNvSpPr txBox="1"/>
          <p:nvPr/>
        </p:nvSpPr>
        <p:spPr>
          <a:xfrm>
            <a:off x="3048000" y="595958"/>
            <a:ext cx="11877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PINCH DETECTION VISUALIZATION AND DISTANCE CALCULATION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B7881-CB31-CB5E-A5E5-097182359B1C}"/>
              </a:ext>
            </a:extLst>
          </p:cNvPr>
          <p:cNvSpPr txBox="1"/>
          <p:nvPr/>
        </p:nvSpPr>
        <p:spPr>
          <a:xfrm>
            <a:off x="9220200" y="2107944"/>
            <a:ext cx="731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REGRESSION CNN MODEL:</a:t>
            </a:r>
            <a:br>
              <a:rPr lang="en-IN" sz="2400" b="1" dirty="0"/>
            </a:br>
            <a:r>
              <a:rPr lang="en-IN" sz="2400" dirty="0"/>
              <a:t>Light weight CNN mo0del is used </a:t>
            </a:r>
            <a:br>
              <a:rPr lang="en-IN" sz="2400" dirty="0"/>
            </a:br>
            <a:r>
              <a:rPr lang="en-IN" sz="2400" dirty="0"/>
              <a:t>- less memory usage</a:t>
            </a:r>
          </a:p>
          <a:p>
            <a:r>
              <a:rPr lang="en-IN" sz="2400" dirty="0"/>
              <a:t>- low computation power</a:t>
            </a:r>
          </a:p>
          <a:p>
            <a:r>
              <a:rPr lang="en-IN" sz="2400" dirty="0"/>
              <a:t>- fast</a:t>
            </a:r>
            <a:r>
              <a:rPr lang="en-IN" sz="2400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B4674-E74E-9274-F974-41A5EF3C125C}"/>
              </a:ext>
            </a:extLst>
          </p:cNvPr>
          <p:cNvSpPr txBox="1"/>
          <p:nvPr/>
        </p:nvSpPr>
        <p:spPr>
          <a:xfrm>
            <a:off x="1238570" y="6491943"/>
            <a:ext cx="899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INPUT :  </a:t>
            </a:r>
            <a:r>
              <a:rPr lang="en-IN" sz="2400" dirty="0"/>
              <a:t>Hand Image (RGB)</a:t>
            </a:r>
            <a:br>
              <a:rPr lang="en-IN" sz="2400" dirty="0"/>
            </a:br>
            <a:r>
              <a:rPr lang="en-IN" sz="2400" dirty="0"/>
              <a:t>- Convolutional Layers</a:t>
            </a:r>
            <a:br>
              <a:rPr lang="en-IN" sz="2400" dirty="0"/>
            </a:br>
            <a:r>
              <a:rPr lang="en-IN" sz="2400" dirty="0"/>
              <a:t>- Global average Pooling</a:t>
            </a:r>
            <a:br>
              <a:rPr lang="en-IN" sz="2400" dirty="0"/>
            </a:br>
            <a:r>
              <a:rPr lang="en-IN" sz="2400" dirty="0"/>
              <a:t>- Fully Connected Layers</a:t>
            </a:r>
            <a:br>
              <a:rPr lang="en-IN" sz="2400" dirty="0"/>
            </a:br>
            <a:r>
              <a:rPr lang="en-IN" sz="2400" dirty="0"/>
              <a:t>- Dense layers</a:t>
            </a:r>
            <a:br>
              <a:rPr lang="en-IN" sz="2400" dirty="0"/>
            </a:br>
            <a:r>
              <a:rPr lang="en-IN" sz="2400" b="1" dirty="0"/>
              <a:t>OUTPUT: </a:t>
            </a:r>
            <a:r>
              <a:rPr lang="en-IN" sz="2400" dirty="0"/>
              <a:t>	Distance (pixels / norm)</a:t>
            </a:r>
            <a:br>
              <a:rPr lang="en-IN" sz="2400" dirty="0"/>
            </a:br>
            <a:r>
              <a:rPr lang="en-IN" sz="2400" dirty="0"/>
              <a:t>		Pinch Detection ( Yes/ No)  </a:t>
            </a:r>
          </a:p>
        </p:txBody>
      </p:sp>
    </p:spTree>
    <p:extLst>
      <p:ext uri="{BB962C8B-B14F-4D97-AF65-F5344CB8AC3E}">
        <p14:creationId xmlns:p14="http://schemas.microsoft.com/office/powerpoint/2010/main" val="359461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95B2B5-F75A-8D2B-63C8-0C427458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3748"/>
            <a:ext cx="9764382" cy="53213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E9AA5B-ACD1-8356-583B-1F9269778C2C}"/>
              </a:ext>
            </a:extLst>
          </p:cNvPr>
          <p:cNvSpPr txBox="1"/>
          <p:nvPr/>
        </p:nvSpPr>
        <p:spPr>
          <a:xfrm>
            <a:off x="7696200" y="1015305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STREAMLIT APP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233E548-D76D-1160-C8CE-9A2BD817D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0" y="2628900"/>
            <a:ext cx="681416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UI: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Python scripts into a web app, replacing basic OpenCV windows with a browser-based interface.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buttons and toggles to dynamically control camera and features without restarting.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Dashboard: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real-time data with clean metrics and live-updating line charts.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Remembers app settings (like camera on/off) across updates for a smooth user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5209" y="3830090"/>
            <a:ext cx="8904804" cy="174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6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479</Words>
  <Application>Microsoft Office PowerPoint</Application>
  <PresentationFormat>Custom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Open Sauce</vt:lpstr>
      <vt:lpstr>Montserrat Bold</vt:lpstr>
      <vt:lpstr>Calibri</vt:lpstr>
      <vt:lpstr>Montserrat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Webcam Input and Hand Detection Module.</dc:title>
  <dc:creator>hari krishna majji</dc:creator>
  <cp:lastModifiedBy>hari krishna majji</cp:lastModifiedBy>
  <cp:revision>9</cp:revision>
  <dcterms:created xsi:type="dcterms:W3CDTF">2006-08-16T00:00:00Z</dcterms:created>
  <dcterms:modified xsi:type="dcterms:W3CDTF">2025-11-10T15:39:38Z</dcterms:modified>
  <dc:identifier>DAG2fpK-F50</dc:identifier>
</cp:coreProperties>
</file>