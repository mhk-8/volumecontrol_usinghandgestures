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67" r:id="rId5"/>
    <p:sldId id="262" r:id="rId6"/>
    <p:sldId id="263" r:id="rId7"/>
    <p:sldId id="268" r:id="rId8"/>
    <p:sldId id="265" r:id="rId9"/>
    <p:sldId id="266" r:id="rId10"/>
  </p:sldIdLst>
  <p:sldSz cx="18288000" cy="10287000"/>
  <p:notesSz cx="6858000" cy="9144000"/>
  <p:embeddedFontLst>
    <p:embeddedFont>
      <p:font typeface="Arial Black" panose="020B0A04020102020204" pitchFamily="34" charset="0"/>
      <p:bold r:id="rId11"/>
    </p:embeddedFont>
    <p:embeddedFont>
      <p:font typeface="Montserrat" panose="00000500000000000000" pitchFamily="2" charset="0"/>
      <p:regular r:id="rId12"/>
      <p:bold r:id="rId13"/>
    </p:embeddedFont>
    <p:embeddedFont>
      <p:font typeface="Montserrat Bold" panose="00000800000000000000" charset="0"/>
      <p:regular r:id="rId14"/>
    </p:embeddedFont>
    <p:embeddedFont>
      <p:font typeface="Open Sauce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473352"/>
            <a:ext cx="18288000" cy="3813648"/>
          </a:xfrm>
          <a:custGeom>
            <a:avLst/>
            <a:gdLst/>
            <a:ahLst/>
            <a:cxnLst/>
            <a:rect l="l" t="t" r="r" b="b"/>
            <a:pathLst>
              <a:path w="20127836" h="11161800">
                <a:moveTo>
                  <a:pt x="0" y="0"/>
                </a:moveTo>
                <a:lnTo>
                  <a:pt x="20127836" y="0"/>
                </a:lnTo>
                <a:lnTo>
                  <a:pt x="20127836" y="11161800"/>
                </a:lnTo>
                <a:lnTo>
                  <a:pt x="0" y="11161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2988220" y="2841671"/>
            <a:ext cx="12311559" cy="224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8"/>
              </a:lnSpc>
            </a:pPr>
            <a:r>
              <a:rPr lang="en-US" sz="6424" b="1" dirty="0">
                <a:solidFill>
                  <a:srgbClr val="1C1C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Distance Measurement and microphone volume control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24811" y="4565015"/>
            <a:ext cx="7438379" cy="1111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Mentor : Dr. D. Bhanu Prakash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24811" y="6475009"/>
            <a:ext cx="7438379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1C1C1C"/>
                </a:solidFill>
                <a:latin typeface="Montserrat"/>
                <a:ea typeface="Montserrat"/>
                <a:cs typeface="Montserrat"/>
                <a:sym typeface="Montserrat"/>
              </a:rPr>
              <a:t>Presented by: MAJJI HARI KRISHNA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1F115A-DA05-267B-3E7B-6312019CEEDD}"/>
              </a:ext>
            </a:extLst>
          </p:cNvPr>
          <p:cNvSpPr txBox="1"/>
          <p:nvPr/>
        </p:nvSpPr>
        <p:spPr>
          <a:xfrm>
            <a:off x="7696200" y="2256983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MILESTONE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8309737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26039" y="3804938"/>
            <a:ext cx="14459467" cy="4708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b="1" dirty="0"/>
              <a:t>Volume Mapping and Control Module</a:t>
            </a:r>
          </a:p>
          <a:p>
            <a:r>
              <a:rPr lang="en-US" sz="3200" dirty="0"/>
              <a:t>The gesture distance will be mapped to system volume levels from 0% to 100%.</a:t>
            </a:r>
          </a:p>
          <a:p>
            <a:r>
              <a:rPr lang="en-US" sz="3200" dirty="0"/>
              <a:t>Volume control will be executed using Pycaw or equivalent libraries (PyAutoGUI) with smooth transitions.</a:t>
            </a:r>
          </a:p>
          <a:p>
            <a:endParaRPr lang="en-US" sz="3200" dirty="0"/>
          </a:p>
          <a:p>
            <a:r>
              <a:rPr lang="en-US" sz="3200" dirty="0"/>
              <a:t>Output : </a:t>
            </a:r>
          </a:p>
          <a:p>
            <a:r>
              <a:rPr lang="en-US" sz="3200" dirty="0"/>
              <a:t>	Hand landmarks overlayed on the video stream</a:t>
            </a:r>
          </a:p>
          <a:p>
            <a:r>
              <a:rPr lang="en-US" sz="3200" dirty="0"/>
              <a:t>    	Live camera feed with microphone volume control</a:t>
            </a:r>
          </a:p>
          <a:p>
            <a:pPr algn="just">
              <a:lnSpc>
                <a:spcPts val="3359"/>
              </a:lnSpc>
            </a:pPr>
            <a:endParaRPr lang="en-US" sz="2400" dirty="0">
              <a:solidFill>
                <a:srgbClr val="2E71E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2557"/>
              </a:lnSpc>
              <a:spcBef>
                <a:spcPct val="0"/>
              </a:spcBef>
            </a:pPr>
            <a:endParaRPr lang="en-US" sz="2400" dirty="0">
              <a:solidFill>
                <a:srgbClr val="2E71E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83C0DB-3063-C306-BBAA-BDAD11DCC009}"/>
              </a:ext>
            </a:extLst>
          </p:cNvPr>
          <p:cNvSpPr txBox="1"/>
          <p:nvPr/>
        </p:nvSpPr>
        <p:spPr>
          <a:xfrm>
            <a:off x="3429000" y="1546908"/>
            <a:ext cx="10820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>
                <a:latin typeface="Arial Black" panose="020B0A04020102020204" pitchFamily="34" charset="0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28700" y="8309737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26867" y="522097"/>
            <a:ext cx="13018816" cy="1161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6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Modules &amp; Technologies used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60873" y="2919590"/>
            <a:ext cx="13350803" cy="574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3241"/>
              </a:lnSpc>
              <a:spcBef>
                <a:spcPct val="0"/>
              </a:spcBef>
              <a:buAutoNum type="arabicPeriod"/>
            </a:pPr>
            <a:r>
              <a:rPr lang="en-US" sz="32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OpenCV</a:t>
            </a:r>
            <a:r>
              <a:rPr lang="en-US" sz="3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– Webcam video capture and processing</a:t>
            </a:r>
          </a:p>
          <a:p>
            <a:pPr marL="457200" indent="-457200" algn="just">
              <a:lnSpc>
                <a:spcPts val="3241"/>
              </a:lnSpc>
              <a:spcBef>
                <a:spcPct val="0"/>
              </a:spcBef>
              <a:buAutoNum type="arabicPeriod"/>
            </a:pPr>
            <a:endParaRPr lang="en-US" sz="32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457200" algn="just">
              <a:lnSpc>
                <a:spcPts val="3241"/>
              </a:lnSpc>
              <a:spcBef>
                <a:spcPct val="0"/>
              </a:spcBef>
              <a:buAutoNum type="arabicPeriod"/>
            </a:pPr>
            <a:r>
              <a:rPr lang="en-US" sz="32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Media pipe </a:t>
            </a:r>
            <a:r>
              <a:rPr lang="en-US" sz="3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– Hand tracking and Gesture Detection</a:t>
            </a:r>
          </a:p>
          <a:p>
            <a:pPr marL="457200" indent="-457200" algn="just">
              <a:lnSpc>
                <a:spcPts val="3241"/>
              </a:lnSpc>
              <a:spcBef>
                <a:spcPct val="0"/>
              </a:spcBef>
              <a:buAutoNum type="arabicPeriod"/>
            </a:pPr>
            <a:endParaRPr lang="en-US" sz="32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457200" algn="just">
              <a:lnSpc>
                <a:spcPts val="3241"/>
              </a:lnSpc>
              <a:spcBef>
                <a:spcPct val="0"/>
              </a:spcBef>
              <a:buAutoNum type="arabicPeriod"/>
            </a:pPr>
            <a:r>
              <a:rPr lang="en-US" sz="32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Py Caw </a:t>
            </a:r>
            <a:r>
              <a:rPr lang="en-US" sz="3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– Manages/Controls windows system volume through Core Audio APIs</a:t>
            </a:r>
          </a:p>
          <a:p>
            <a:pPr marL="457200" indent="-457200" algn="just">
              <a:lnSpc>
                <a:spcPts val="3241"/>
              </a:lnSpc>
              <a:spcBef>
                <a:spcPct val="0"/>
              </a:spcBef>
              <a:buAutoNum type="arabicPeriod"/>
            </a:pPr>
            <a:endParaRPr lang="en-US" sz="32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457200" algn="just">
              <a:lnSpc>
                <a:spcPts val="3241"/>
              </a:lnSpc>
              <a:spcBef>
                <a:spcPct val="0"/>
              </a:spcBef>
              <a:buAutoNum type="arabicPeriod"/>
            </a:pPr>
            <a:r>
              <a:rPr lang="en-US" sz="32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 interfaces </a:t>
            </a:r>
            <a:r>
              <a:rPr lang="en-US" sz="3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– (COM initialization + COM Object activation) Manages Audio endpoints</a:t>
            </a:r>
          </a:p>
          <a:p>
            <a:pPr marL="457200" indent="-457200" algn="just">
              <a:lnSpc>
                <a:spcPts val="3241"/>
              </a:lnSpc>
              <a:spcBef>
                <a:spcPct val="0"/>
              </a:spcBef>
              <a:buAutoNum type="arabicPeriod"/>
            </a:pPr>
            <a:endParaRPr lang="en-US" sz="32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457200" algn="just">
              <a:lnSpc>
                <a:spcPts val="3241"/>
              </a:lnSpc>
              <a:spcBef>
                <a:spcPct val="0"/>
              </a:spcBef>
              <a:buAutoNum type="arabicPeriod"/>
            </a:pPr>
            <a:endParaRPr lang="en-US" sz="32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457200" algn="just">
              <a:lnSpc>
                <a:spcPts val="3241"/>
              </a:lnSpc>
              <a:spcBef>
                <a:spcPct val="0"/>
              </a:spcBef>
              <a:buAutoNum type="arabicPeriod"/>
            </a:pPr>
            <a:r>
              <a:rPr lang="en-US" sz="32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Keyboard </a:t>
            </a:r>
            <a:r>
              <a:rPr lang="en-US" sz="3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(Global Hotkeys)</a:t>
            </a:r>
            <a:r>
              <a:rPr lang="en-US" sz="32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– Optional fallback volume control</a:t>
            </a:r>
            <a:endParaRPr lang="en-US" sz="3200" dirty="0">
              <a:solidFill>
                <a:srgbClr val="2E71E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41"/>
              </a:lnSpc>
              <a:spcBef>
                <a:spcPct val="0"/>
              </a:spcBef>
            </a:pPr>
            <a:endParaRPr lang="en-US" sz="3200" dirty="0">
              <a:solidFill>
                <a:srgbClr val="2E71E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41"/>
              </a:lnSpc>
              <a:spcBef>
                <a:spcPct val="0"/>
              </a:spcBef>
            </a:pPr>
            <a:endParaRPr lang="en-US" sz="3200" dirty="0">
              <a:solidFill>
                <a:srgbClr val="2E71E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Freeform 8"/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88DA-1AA0-5723-BC0B-0D76800CD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3E741C3-E43B-828D-B288-6BEE2AD742F5}"/>
              </a:ext>
            </a:extLst>
          </p:cNvPr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928126B-8816-DA41-8FC8-C42BA8F61B09}"/>
              </a:ext>
            </a:extLst>
          </p:cNvPr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A8F26B0-47FF-DC9F-E98D-F50CA1C17F2C}"/>
              </a:ext>
            </a:extLst>
          </p:cNvPr>
          <p:cNvSpPr txBox="1"/>
          <p:nvPr/>
        </p:nvSpPr>
        <p:spPr>
          <a:xfrm>
            <a:off x="1028700" y="8309737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AA77F90-BE83-3AE6-B462-7FD80B2F4A4D}"/>
              </a:ext>
            </a:extLst>
          </p:cNvPr>
          <p:cNvSpPr txBox="1"/>
          <p:nvPr/>
        </p:nvSpPr>
        <p:spPr>
          <a:xfrm>
            <a:off x="2590800" y="3161354"/>
            <a:ext cx="14459467" cy="5463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3359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Webcam capturing live video </a:t>
            </a:r>
          </a:p>
          <a:p>
            <a:pPr marL="457200" indent="-457200" algn="just">
              <a:lnSpc>
                <a:spcPts val="3359"/>
              </a:lnSpc>
              <a:buAutoNum type="arabicPeriod"/>
            </a:pPr>
            <a:endParaRPr lang="en-US" sz="24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457200" algn="just">
              <a:lnSpc>
                <a:spcPts val="3359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Media pipe detects hand landmarks</a:t>
            </a:r>
          </a:p>
          <a:p>
            <a:pPr marL="457200" indent="-457200" algn="just">
              <a:lnSpc>
                <a:spcPts val="3359"/>
              </a:lnSpc>
              <a:buAutoNum type="arabicPeriod"/>
            </a:pPr>
            <a:endParaRPr lang="en-US" sz="24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457200" algn="just">
              <a:lnSpc>
                <a:spcPts val="3359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Distance between fingers calculated</a:t>
            </a:r>
          </a:p>
          <a:p>
            <a:pPr marL="457200" indent="-457200" algn="just">
              <a:lnSpc>
                <a:spcPts val="3359"/>
              </a:lnSpc>
              <a:buAutoNum type="arabicPeriod"/>
            </a:pPr>
            <a:endParaRPr lang="en-US" sz="24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457200" algn="just">
              <a:lnSpc>
                <a:spcPts val="3359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Gesture interpretation (Pinch – Yes/No)</a:t>
            </a:r>
          </a:p>
          <a:p>
            <a:pPr marL="457200" indent="-457200" algn="just">
              <a:lnSpc>
                <a:spcPts val="3359"/>
              </a:lnSpc>
              <a:buAutoNum type="arabicPeriod"/>
            </a:pPr>
            <a:endParaRPr lang="en-US" sz="24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457200" algn="just">
              <a:lnSpc>
                <a:spcPts val="3359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Gesture/Distance mapped to volume percentage</a:t>
            </a:r>
          </a:p>
          <a:p>
            <a:pPr marL="457200" indent="-457200" algn="just">
              <a:lnSpc>
                <a:spcPts val="3359"/>
              </a:lnSpc>
              <a:buAutoNum type="arabicPeriod"/>
            </a:pPr>
            <a:endParaRPr lang="en-US" sz="24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indent="-457200" algn="just">
              <a:lnSpc>
                <a:spcPts val="3359"/>
              </a:lnSpc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Py caw updates microphone volume in parallel</a:t>
            </a:r>
            <a:endParaRPr lang="en-US" sz="2400" dirty="0">
              <a:solidFill>
                <a:srgbClr val="2E71E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2557"/>
              </a:lnSpc>
              <a:spcBef>
                <a:spcPct val="0"/>
              </a:spcBef>
            </a:pPr>
            <a:endParaRPr lang="en-US" sz="2400" dirty="0">
              <a:solidFill>
                <a:srgbClr val="2E71E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2557"/>
              </a:lnSpc>
              <a:spcBef>
                <a:spcPct val="0"/>
              </a:spcBef>
            </a:pPr>
            <a:endParaRPr lang="en-US" sz="2400" dirty="0">
              <a:solidFill>
                <a:srgbClr val="2E71E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DC60AD22-5A5F-4650-5A0E-BCEE7E4E3307}"/>
              </a:ext>
            </a:extLst>
          </p:cNvPr>
          <p:cNvSpPr txBox="1"/>
          <p:nvPr/>
        </p:nvSpPr>
        <p:spPr>
          <a:xfrm>
            <a:off x="1905000" y="917974"/>
            <a:ext cx="13018816" cy="1161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6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Working process</a:t>
            </a:r>
          </a:p>
        </p:txBody>
      </p:sp>
    </p:spTree>
    <p:extLst>
      <p:ext uri="{BB962C8B-B14F-4D97-AF65-F5344CB8AC3E}">
        <p14:creationId xmlns:p14="http://schemas.microsoft.com/office/powerpoint/2010/main" val="3282297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8700" y="8309737"/>
            <a:ext cx="1113905" cy="629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3"/>
              </a:lnSpc>
            </a:pPr>
            <a:r>
              <a:rPr lang="en-US" sz="372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38800" y="952500"/>
            <a:ext cx="815322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3199" b="1" dirty="0">
                <a:solidFill>
                  <a:srgbClr val="000000"/>
                </a:solidFill>
                <a:latin typeface="Montserrat"/>
                <a:ea typeface="Montserrat Bold"/>
                <a:cs typeface="Montserrat Bold"/>
                <a:sym typeface="Montserrat"/>
              </a:rPr>
              <a:t>Understanding Code Snippets</a:t>
            </a:r>
            <a:endParaRPr lang="en-US" sz="319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endParaRPr lang="en-US" sz="319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580A2C-F2F4-80AA-E8CD-F774612D62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10"/>
          <a:stretch>
            <a:fillRect/>
          </a:stretch>
        </p:blipFill>
        <p:spPr>
          <a:xfrm>
            <a:off x="1752600" y="2781300"/>
            <a:ext cx="10652145" cy="472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33A49A-FFD7-B577-3EA9-01CC0108C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4178" y="2781300"/>
            <a:ext cx="6656313" cy="21622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B46548-534E-535C-E5F1-0CC7EB0DCA67}"/>
              </a:ext>
            </a:extLst>
          </p:cNvPr>
          <p:cNvSpPr txBox="1"/>
          <p:nvPr/>
        </p:nvSpPr>
        <p:spPr>
          <a:xfrm>
            <a:off x="9144000" y="5600700"/>
            <a:ext cx="8001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_percent_to_scalar(p) and _scalar_to_percent(s)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Converts percentage volume(0-100%) 		Windows scalar format (0.0 – 1.0)</a:t>
            </a:r>
          </a:p>
          <a:p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A2CD98-F148-887C-9866-E50D2215C63E}"/>
              </a:ext>
            </a:extLst>
          </p:cNvPr>
          <p:cNvCxnSpPr/>
          <p:nvPr/>
        </p:nvCxnSpPr>
        <p:spPr>
          <a:xfrm>
            <a:off x="12801600" y="6743700"/>
            <a:ext cx="914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-10800000">
            <a:off x="14012730" y="6713542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3"/>
                </a:lnTo>
                <a:lnTo>
                  <a:pt x="0" y="3604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E64B8D-E736-F39B-9632-39ABDD33D71E}"/>
              </a:ext>
            </a:extLst>
          </p:cNvPr>
          <p:cNvSpPr txBox="1"/>
          <p:nvPr/>
        </p:nvSpPr>
        <p:spPr>
          <a:xfrm>
            <a:off x="1676400" y="6359598"/>
            <a:ext cx="15544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 _create_mmdevice_enumerator() :</a:t>
            </a:r>
          </a:p>
          <a:p>
            <a:r>
              <a:rPr lang="en-IN" sz="2400" dirty="0"/>
              <a:t>	Creates an </a:t>
            </a:r>
            <a:r>
              <a:rPr lang="en-IN" sz="2400" b="1" dirty="0"/>
              <a:t>IMMDeviceEnumerator</a:t>
            </a:r>
            <a:r>
              <a:rPr lang="en-IN" sz="2400" dirty="0"/>
              <a:t> object, which is the windows Core Audio component that lists and accesses audio devices ( microphone , speakers, headsets ) </a:t>
            </a:r>
            <a:r>
              <a:rPr lang="en-IN" sz="2400" b="1" dirty="0"/>
              <a:t> 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_get_volume_interface_for_default() : </a:t>
            </a:r>
          </a:p>
          <a:p>
            <a:r>
              <a:rPr lang="en-US" sz="2400" b="1" dirty="0"/>
              <a:t>	</a:t>
            </a:r>
            <a:r>
              <a:rPr lang="en-US" sz="2400" dirty="0"/>
              <a:t>Gets </a:t>
            </a:r>
            <a:r>
              <a:rPr lang="en-US" sz="2400" b="1" dirty="0"/>
              <a:t>IAudioEndpointVolume</a:t>
            </a:r>
            <a:r>
              <a:rPr lang="en-US" sz="2400" dirty="0"/>
              <a:t> interface for the default microphone </a:t>
            </a:r>
            <a:br>
              <a:rPr lang="en-IN" sz="2400" b="1" dirty="0"/>
            </a:b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1E5ECB-5A2A-4EAD-2D94-45EB51763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952500"/>
            <a:ext cx="10058400" cy="46937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>
            <a:extLst>
              <a:ext uri="{FF2B5EF4-FFF2-40B4-BE49-F238E27FC236}">
                <a16:creationId xmlns:a16="http://schemas.microsoft.com/office/drawing/2014/main" id="{D0475FDD-809C-A02F-8063-2379864233C4}"/>
              </a:ext>
            </a:extLst>
          </p:cNvPr>
          <p:cNvSpPr/>
          <p:nvPr/>
        </p:nvSpPr>
        <p:spPr>
          <a:xfrm rot="10800000">
            <a:off x="14012730" y="6713542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3"/>
                </a:lnTo>
                <a:lnTo>
                  <a:pt x="0" y="3604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BC8D9C89-9C9D-BCA9-8430-F15C1C212F8D}"/>
              </a:ext>
            </a:extLst>
          </p:cNvPr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189986-0562-FF00-4C19-3175E75BE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253406"/>
            <a:ext cx="8418939" cy="23432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B31874-FE01-ECB8-0AA4-3642988D20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909"/>
          <a:stretch>
            <a:fillRect/>
          </a:stretch>
        </p:blipFill>
        <p:spPr>
          <a:xfrm>
            <a:off x="481361" y="3872613"/>
            <a:ext cx="9004378" cy="25417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16EB93-76F3-AD7E-8FE4-4A2CC5B55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205" y="6972300"/>
            <a:ext cx="8871338" cy="23765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E7A7E2-8D29-FF3C-552F-E2C3325B5C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2200" y="1253406"/>
            <a:ext cx="6658388" cy="33767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90BE116-F4C9-698F-5D24-59FC737D00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7367" y="5524500"/>
            <a:ext cx="7351306" cy="337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619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E9AA5B-ACD1-8356-583B-1F9269778C2C}"/>
              </a:ext>
            </a:extLst>
          </p:cNvPr>
          <p:cNvSpPr txBox="1"/>
          <p:nvPr/>
        </p:nvSpPr>
        <p:spPr>
          <a:xfrm>
            <a:off x="7696200" y="1015305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STREAMLIT APP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233E548-D76D-1160-C8CE-9A2BD817D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0" y="2628900"/>
            <a:ext cx="681416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Web UI: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Python scripts into a web app, replacing basic OpenCV windows with a browser-based interface.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Control: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buttons and toggles to dynamically control camera and features without restarting.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Dashboard: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Displays real-time data with clean metrics and live-updating line charts.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Management: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Remembers app settings (like camera on/off) across updates for a smooth user experience.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AD542A-12AB-54DC-4495-582BFFC0C3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63" t="5621" r="763" b="-5621"/>
          <a:stretch>
            <a:fillRect/>
          </a:stretch>
        </p:blipFill>
        <p:spPr>
          <a:xfrm>
            <a:off x="457200" y="2628900"/>
            <a:ext cx="9989678" cy="57966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85209" y="3830090"/>
            <a:ext cx="8904804" cy="1744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60"/>
              </a:lnSpc>
              <a:spcBef>
                <a:spcPct val="0"/>
              </a:spcBef>
            </a:pPr>
            <a:r>
              <a:rPr lang="en-US" sz="1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 rot="-10800000">
            <a:off x="13959558" y="6682068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4285209" cy="3604932"/>
          </a:xfrm>
          <a:custGeom>
            <a:avLst/>
            <a:gdLst/>
            <a:ahLst/>
            <a:cxnLst/>
            <a:rect l="l" t="t" r="r" b="b"/>
            <a:pathLst>
              <a:path w="4285209" h="3604932">
                <a:moveTo>
                  <a:pt x="0" y="0"/>
                </a:moveTo>
                <a:lnTo>
                  <a:pt x="4285209" y="0"/>
                </a:lnTo>
                <a:lnTo>
                  <a:pt x="4285209" y="3604932"/>
                </a:lnTo>
                <a:lnTo>
                  <a:pt x="0" y="3604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2397</TotalTime>
  <Words>353</Words>
  <Application>Microsoft Office PowerPoint</Application>
  <PresentationFormat>Custom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 Black</vt:lpstr>
      <vt:lpstr>Montserrat</vt:lpstr>
      <vt:lpstr>Calibri</vt:lpstr>
      <vt:lpstr>Montserrat Bold</vt:lpstr>
      <vt:lpstr>Open Sauce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Webcam Input and Hand Detection Module.</dc:title>
  <dc:creator>hari krishna majji</dc:creator>
  <cp:lastModifiedBy>hari krishna majji</cp:lastModifiedBy>
  <cp:revision>10</cp:revision>
  <dcterms:created xsi:type="dcterms:W3CDTF">2006-08-16T00:00:00Z</dcterms:created>
  <dcterms:modified xsi:type="dcterms:W3CDTF">2025-11-26T14:47:41Z</dcterms:modified>
  <dc:identifier>DAG2fpK-F50</dc:identifier>
</cp:coreProperties>
</file>